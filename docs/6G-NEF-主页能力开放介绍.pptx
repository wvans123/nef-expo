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EAF1FF"/>
                </a:solidFill>
                <a:latin typeface="Microsoft YaHei"/>
              </a:rPr>
              <a:t>6G </a:t>
            </a:r>
            <a:r>
              <a:rPr sz="2500" b="1">
                <a:solidFill>
                  <a:srgbClr val="39D2FF"/>
                </a:solidFill>
                <a:latin typeface="Microsoft YaHei"/>
              </a:rPr>
              <a:t>NEF</a:t>
            </a:r>
            <a:r>
              <a:rPr sz="2500" b="1">
                <a:solidFill>
                  <a:srgbClr val="EAF1FF"/>
                </a:solidFill>
                <a:latin typeface="Microsoft YaHei"/>
              </a:rPr>
              <a:t> 能力开放平台 · 主页（能力超市）</a:t>
            </a:r>
          </a:p>
          <a:p>
            <a:r>
              <a:rPr sz="1400" b="0">
                <a:solidFill>
                  <a:srgbClr val="8FA6D9"/>
                </a:solidFill>
                <a:latin typeface="Microsoft YaHei"/>
              </a:rPr>
              <a:t>把「连接能力」与「超越连接能力」抽象为统一能力目录、组装为场景，并支持多种接口调用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1243584"/>
            <a:ext cx="1280160" cy="38100"/>
          </a:xfrm>
          <a:prstGeom prst="rect">
            <a:avLst/>
          </a:prstGeom>
          <a:solidFill>
            <a:srgbClr val="39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81328"/>
            <a:ext cx="8138160" cy="5086350"/>
          </a:xfrm>
          <a:prstGeom prst="rect">
            <a:avLst/>
          </a:prstGeom>
          <a:ln w="15875">
            <a:solidFill>
              <a:srgbClr val="39D2FF"/>
            </a:solidFill>
          </a:ln>
        </p:spPr>
      </p:pic>
      <p:sp>
        <p:nvSpPr>
          <p:cNvPr id="5" name="Oval 4"/>
          <p:cNvSpPr/>
          <p:nvPr/>
        </p:nvSpPr>
        <p:spPr>
          <a:xfrm>
            <a:off x="2075307" y="1591500"/>
            <a:ext cx="310896" cy="310896"/>
          </a:xfrm>
          <a:prstGeom prst="ellipse">
            <a:avLst/>
          </a:prstGeom>
          <a:solidFill>
            <a:srgbClr val="39D2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50B1F"/>
                </a:solidFill>
                <a:latin typeface="Microsoft YaHei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1199324" y="3207829"/>
            <a:ext cx="310896" cy="310896"/>
          </a:xfrm>
          <a:prstGeom prst="ellipse">
            <a:avLst/>
          </a:prstGeom>
          <a:solidFill>
            <a:srgbClr val="FFC857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50B1F"/>
                </a:solidFill>
                <a:latin typeface="Microsoft YaHei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1142809" y="4405947"/>
            <a:ext cx="310896" cy="310896"/>
          </a:xfrm>
          <a:prstGeom prst="ellipse">
            <a:avLst/>
          </a:prstGeom>
          <a:solidFill>
            <a:srgbClr val="BC8CF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50B1F"/>
                </a:solidFill>
                <a:latin typeface="Microsoft YaHe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517904"/>
            <a:ext cx="3154680" cy="1481328"/>
          </a:xfrm>
          <a:prstGeom prst="roundRect">
            <a:avLst/>
          </a:prstGeom>
          <a:solidFill>
            <a:srgbClr val="0E1D3F"/>
          </a:solidFill>
          <a:ln w="15875">
            <a:solidFill>
              <a:srgbClr val="39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/>
          <a:lstStyle/>
          <a:p>
            <a:pPr algn="ctr"/>
            <a:r>
              <a:rPr sz="1500" b="1">
                <a:solidFill>
                  <a:srgbClr val="39D2FF"/>
                </a:solidFill>
                <a:latin typeface="Microsoft YaHei"/>
              </a:rPr>
              <a:t>1  </a:t>
            </a:r>
            <a:r>
              <a:rPr sz="1600" b="1">
                <a:solidFill>
                  <a:srgbClr val="39D2FF"/>
                </a:solidFill>
                <a:latin typeface="Microsoft YaHei"/>
              </a:rPr>
              <a:t>多接口开放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EAF1FF"/>
                </a:solidFill>
                <a:latin typeface="Microsoft YaHei"/>
              </a:rPr>
              <a:t>顶部页签即四种调用方式：服务化 REST · 类 MCP（AI Agent 直连）· 意图 Intent · 场景级一键。任意一种都调到同一张网络的能力。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163824"/>
            <a:ext cx="3154680" cy="1481328"/>
          </a:xfrm>
          <a:prstGeom prst="roundRect">
            <a:avLst/>
          </a:prstGeom>
          <a:solidFill>
            <a:srgbClr val="0E1D3F"/>
          </a:solidFill>
          <a:ln w="15875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/>
          <a:lstStyle/>
          <a:p>
            <a:pPr algn="ctr"/>
            <a:r>
              <a:rPr sz="1500" b="1">
                <a:solidFill>
                  <a:srgbClr val="FFC857"/>
                </a:solidFill>
                <a:latin typeface="Microsoft YaHei"/>
              </a:rPr>
              <a:t>2  </a:t>
            </a:r>
            <a:r>
              <a:rPr sz="1600" b="1">
                <a:solidFill>
                  <a:srgbClr val="FFC857"/>
                </a:solidFill>
                <a:latin typeface="Microsoft YaHei"/>
              </a:rPr>
              <a:t>能力组装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EAF1FF"/>
                </a:solidFill>
                <a:latin typeface="Microsoft YaHei"/>
              </a:rPr>
              <a:t>多个能力按 Skill 打包成「场景套餐」（机器狗巡检 / 车流量预测 / 无人机追踪…），一键运行整套方案。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4809744"/>
            <a:ext cx="3154680" cy="1481328"/>
          </a:xfrm>
          <a:prstGeom prst="roundRect">
            <a:avLst/>
          </a:prstGeom>
          <a:solidFill>
            <a:srgbClr val="0E1D3F"/>
          </a:solidFill>
          <a:ln w="15875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/>
          <a:lstStyle/>
          <a:p>
            <a:pPr algn="ctr"/>
            <a:r>
              <a:rPr sz="1500" b="1">
                <a:solidFill>
                  <a:srgbClr val="BC8CFF"/>
                </a:solidFill>
                <a:latin typeface="Microsoft YaHei"/>
              </a:rPr>
              <a:t>3  </a:t>
            </a:r>
            <a:r>
              <a:rPr sz="1600" b="1">
                <a:solidFill>
                  <a:srgbClr val="BC8CFF"/>
                </a:solidFill>
                <a:latin typeface="Microsoft YaHei"/>
              </a:rPr>
              <a:t>能力抽象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EAF1FF"/>
                </a:solidFill>
                <a:latin typeface="Microsoft YaHei"/>
              </a:rPr>
              <a:t>连接能力 + 超越连接能力 → 统一 tool 目录，归 6 大类：通感 ISAC · 通算 Computing · 连接 Connectivity · 定位 · 数据 · 生态。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FA6D9"/>
                </a:solidFill>
                <a:latin typeface="Microsoft YaHei"/>
              </a:rPr>
              <a:t>能力来源：🟢 3GPP 标准化 NEF API · 🔵 6G 通感 ISAC（TR 22.837）· 🟣 6G 通算/算网 · ⚪ 垂直增值　|　6G NEF Capability Exposure ·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